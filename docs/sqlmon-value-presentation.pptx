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20116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A5E9"/>
                </a:solidFill>
                <a:latin typeface="PingFang SC"/>
              </a:rPr>
              <a:t>SQLMON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2971800" cy="1325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PingFang SC"/>
              </a:rPr>
              <a:t>SQL Server
实时监控平台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706624"/>
            <a:ext cx="2852928" cy="6583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E2E8F0"/>
                </a:solidFill>
                <a:latin typeface="PingFang SC"/>
              </a:rPr>
              <a:t>面向 DBA、研发、运维的一体化数据库排障工作台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794760"/>
            <a:ext cx="7772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A5E9"/>
                </a:solidFill>
                <a:latin typeface="PingFang SC"/>
              </a:rPr>
              <a:t>实时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822191"/>
            <a:ext cx="201168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2E8F0"/>
                </a:solidFill>
                <a:latin typeface="PingFang SC"/>
              </a:rPr>
              <a:t>现场采集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325112"/>
            <a:ext cx="7772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A5E9"/>
                </a:solidFill>
                <a:latin typeface="PingFang SC"/>
              </a:rPr>
              <a:t>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352544"/>
            <a:ext cx="201168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2E8F0"/>
                </a:solidFill>
                <a:latin typeface="PingFang SC"/>
              </a:rPr>
              <a:t>定位到处置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855464"/>
            <a:ext cx="7772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A5E9"/>
                </a:solidFill>
                <a:latin typeface="PingFang SC"/>
              </a:rPr>
              <a:t>可追溯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882896"/>
            <a:ext cx="201168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2E8F0"/>
                </a:solidFill>
                <a:latin typeface="PingFang SC"/>
              </a:rPr>
              <a:t>审计与回放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126480"/>
            <a:ext cx="24688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项目价值汇报 /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713232"/>
            <a:ext cx="60350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563EB"/>
                </a:solidFill>
                <a:latin typeface="PingFang SC"/>
              </a:rPr>
              <a:t>核心价值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078992"/>
            <a:ext cx="603504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F172A"/>
                </a:solidFill>
                <a:latin typeface="PingFang SC"/>
              </a:rPr>
              <a:t>把依赖经验的临场排障，沉淀为标准化、可视化、可审计的平台能力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498848" y="2057400"/>
          <a:ext cx="6995160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440680"/>
              </a:tblGrid>
              <a:tr h="41696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价值维度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项目体现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更快定位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Dashboard、会话、SQL、阻塞链统一入口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更安全处置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Kill 二次确认、安全规则、操作审计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更易复盘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短期历史快照与时间点回放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696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更好协同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DBA、研发、SRE 使用统一现场数据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498848" y="4434840"/>
            <a:ext cx="6995160" cy="1783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549" y="4507992"/>
            <a:ext cx="1711756" cy="13075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45152" y="5888736"/>
            <a:ext cx="6702552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8B"/>
                </a:solidFill>
                <a:latin typeface="PingFang SC"/>
              </a:rPr>
              <a:t>已启动环境中的实时仪表盘截图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汇报主线：从排障痛点到平台价值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233172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47088"/>
            <a:ext cx="5486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563EB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95728"/>
            <a:ext cx="19202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PingFang SC"/>
              </a:rPr>
              <a:t>为什么建设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1874519" cy="1051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线上 SQL Server 故障强依赖现场，传统人工排障慢且不可复用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72384" y="3218688"/>
            <a:ext cx="347472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1627632"/>
            <a:ext cx="233172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847088"/>
            <a:ext cx="5486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563EB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395728"/>
            <a:ext cx="19202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PingFang SC"/>
              </a:rPr>
              <a:t>建设了什么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907792"/>
            <a:ext cx="1874519" cy="1051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实时监控、会话分析、SQL 分析、阻塞链、Kill、回放、实例管理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61304" y="3218688"/>
            <a:ext cx="347472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91072" y="1627632"/>
            <a:ext cx="233172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47088"/>
            <a:ext cx="5486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563EB"/>
                </a:solidFill>
                <a:latin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95728"/>
            <a:ext cx="19202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PingFang SC"/>
              </a:rPr>
              <a:t>带来什么价值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07792"/>
            <a:ext cx="1874519" cy="1051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缩短定位时间，降低处置风险，保留证据，提升跨团队协同效率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50224" y="3218688"/>
            <a:ext cx="347472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79991" y="1627632"/>
            <a:ext cx="233172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1847088"/>
            <a:ext cx="5486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563EB"/>
                </a:solidFill>
                <a:latin typeface="PingFang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395728"/>
            <a:ext cx="19202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PingFang SC"/>
              </a:rPr>
              <a:t>如何持续演进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2907792"/>
            <a:ext cx="1874519" cy="1051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死锁、TempDB、权限、告警、根因提示、报告化能力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285232"/>
            <a:ext cx="105613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PingFang SC"/>
              </a:rPr>
              <a:t>本 PPT 按“背景 → 方案 → 功能价值 → 经营收益 → 演进路线”组织，避免停留在菜单介绍。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建设背景：数据库故障的核心难点是“现场”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09344"/>
            <a:ext cx="307238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线上 SQL Server 问题特征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965960"/>
            <a:ext cx="384048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48840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563EB"/>
                </a:solidFill>
                <a:latin typeface="PingFang S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130552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阻塞、长事务、高 CPU、高 IO、异常等待通常突发出现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496312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563EB"/>
                </a:solidFill>
                <a:latin typeface="PingFang S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478024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问题现场随 Session 结束、SQL 完成或 Kill 处置快速消失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843784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563EB"/>
                </a:solidFill>
                <a:latin typeface="PingFang S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2825496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事后常只能依赖零散日志、人工记忆和临时查询结果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191256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563EB"/>
                </a:solidFill>
                <a:latin typeface="PingFang S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172968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多实例环境下，跨实例排查成本继续放大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46304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1609344"/>
            <a:ext cx="307238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传统排障方式局限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1965960"/>
            <a:ext cx="384048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2148840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D97706"/>
                </a:solidFill>
                <a:latin typeface="PingFang S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7" y="2130552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需要人工登录数据库或服务器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2496312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D97706"/>
                </a:solidFill>
                <a:latin typeface="PingFang S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7" y="2478024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依赖 DBA 手写 DMV 查询和经验判断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2843784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D97706"/>
                </a:solidFill>
                <a:latin typeface="PingFang S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7" y="2825496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阻塞链关系需要人工推导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191256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D97706"/>
                </a:solidFill>
                <a:latin typeface="PingFang S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7" y="3172968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Kill 处置缺少统一审计和复盘证据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1463040"/>
            <a:ext cx="34747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8" y="1609344"/>
            <a:ext cx="307238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平台建设切入点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5048" y="1965960"/>
            <a:ext cx="384048" cy="3657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9911" y="2148840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A34A"/>
                </a:solidFill>
                <a:latin typeface="PingFang S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9367" y="2130552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把实时现场持续采集下来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1" y="2496312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A34A"/>
                </a:solidFill>
                <a:latin typeface="PingFang S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7" y="2478024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把关键诊断视角标准化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2843784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A34A"/>
                </a:solidFill>
                <a:latin typeface="PingFang S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9367" y="2825496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把处置动作纳入安全闭环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1" y="3191256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A34A"/>
                </a:solidFill>
                <a:latin typeface="PingFang S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59367" y="3172968"/>
            <a:ext cx="281635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把历史现场转化为可回放证据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核心痛点：不是缺少查询语句，而是缺少统一排障闭环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8356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160520"/>
                <a:gridCol w="5349240"/>
              </a:tblGrid>
              <a:tr h="7239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痛点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传统状态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平台化改进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发现慢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需要 DBA 主动登录或等待业务反馈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Dashboard 聚合指标，第一时间看到阻塞、等待和资源压力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定位慢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Session、SQL、Wait、Blocking 数据分散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统一页面串联实例、会话、SQL、阻塞链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处置风险高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Kill 依赖人工判断，缺少统一流程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二次确认、原因填写、安全校验、审计留痕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复盘困难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问题结束后现场丢失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历史快照按时间回放，保留问题现场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协同低效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DBA、研发、SRE 看到的信息不一致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统一工作台承载共同事实来源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897880"/>
            <a:ext cx="106070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PingFang SC"/>
              </a:rPr>
              <a:t>结论：项目价值不只是“展示数据”，而是把发现、定位、处置、复盘四个动作连接成闭环。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建设目标：围绕 MTTR 和处置安全设计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26464"/>
            <a:ext cx="23317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91056"/>
            <a:ext cx="2002536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563EB"/>
                </a:solidFill>
                <a:latin typeface="PingFang SC"/>
              </a:rPr>
              <a:t>3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2002536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发现并定位实时阻塞问题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426464"/>
            <a:ext cx="23317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591056"/>
            <a:ext cx="2002536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EA5E9"/>
                </a:solidFill>
                <a:latin typeface="PingFang SC"/>
              </a:rPr>
              <a:t>多实例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029968"/>
            <a:ext cx="2002536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统一接入与切换 SQL Server 实例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426464"/>
            <a:ext cx="23317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591056"/>
            <a:ext cx="2002536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6A34A"/>
                </a:solidFill>
                <a:latin typeface="PingFang SC"/>
              </a:rPr>
              <a:t>短期快照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029968"/>
            <a:ext cx="2002536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支持问题现场回放和复盘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9991" y="1426464"/>
            <a:ext cx="23317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3" y="1591056"/>
            <a:ext cx="2002536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D97706"/>
                </a:solidFill>
                <a:latin typeface="PingFang SC"/>
              </a:rPr>
              <a:t>可审计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3" y="2029968"/>
            <a:ext cx="2002536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Kill 操作留痕并可追踪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13232" y="2880360"/>
          <a:ext cx="5074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611880"/>
              </a:tblGrid>
              <a:tr h="51206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目标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平台能力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发现异常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仪表盘、资源趋势、等待聚合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定位根因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Session、SQL、Blocking 联动分析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安全处置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Kill 确认、规则校验、审计记录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复盘沉淀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按时间查询历史快照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766560" y="5413248"/>
            <a:ext cx="4480560" cy="438912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5486400"/>
            <a:ext cx="448056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PingFang SC"/>
              </a:rPr>
              <a:t>统一事实来源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18020" y="4754880"/>
            <a:ext cx="3977640" cy="438912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8020" y="4828032"/>
            <a:ext cx="39776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PingFang SC"/>
              </a:rPr>
              <a:t>标准化排障流程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4096512"/>
            <a:ext cx="3474720" cy="438912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4169664"/>
            <a:ext cx="34747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PingFang SC"/>
              </a:rPr>
              <a:t>安全处置闭环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20940" y="3438144"/>
            <a:ext cx="2971800" cy="438912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20940" y="3511296"/>
            <a:ext cx="29718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PingFang SC"/>
              </a:rPr>
              <a:t>历史复盘资产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971800"/>
            <a:ext cx="480060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172A"/>
                </a:solidFill>
                <a:latin typeface="PingFang SC"/>
              </a:rPr>
              <a:t>价值递进模型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493008"/>
            <a:ext cx="48920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PingFang SC"/>
              </a:rPr>
              <a:t>从“看见现场”开始，逐步形成统一流程、风险控制和组织知识沉淀。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总体架构：API 与 Collector 分离，保障稳定采集与查询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600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1453896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Browser
用户访问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600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975104"/>
            <a:ext cx="1453896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Vue Frontend
监控页面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1600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1975104"/>
            <a:ext cx="1453896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FastAPI
API 服务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828800"/>
            <a:ext cx="1600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975104"/>
            <a:ext cx="1453896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PostgreSQL
快照与配置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794760"/>
            <a:ext cx="1600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941064"/>
            <a:ext cx="1453896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Collector
采集进程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794760"/>
            <a:ext cx="1600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941064"/>
            <a:ext cx="1453896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SQL Server
实例集群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2157984"/>
            <a:ext cx="3200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43400" y="2157984"/>
            <a:ext cx="3200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63640" y="2157984"/>
            <a:ext cx="3200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63640" y="4123944"/>
            <a:ext cx="3200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486400" y="2487168"/>
            <a:ext cx="1783080" cy="1307592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468112" y="2487168"/>
            <a:ext cx="1527048" cy="1307592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5074920"/>
            <a:ext cx="306324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PingFang SC"/>
              </a:rPr>
              <a:t>设计取舍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440680"/>
            <a:ext cx="102870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5586984"/>
            <a:ext cx="988466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MVP 采用 HTTP 轮询，不引入消息队列和 WebSocket。API 负责查询与处置，Collector 负责周期采集，单实例采集异常不应影响 API 查询和其他实例。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" y="5943600"/>
            <a:ext cx="384048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价值一：仪表盘让异常“先被看见”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6537960" cy="4434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772" y="1426464"/>
            <a:ext cx="5183151" cy="395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" y="5458968"/>
            <a:ext cx="6245352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8B"/>
                </a:solidFill>
                <a:latin typeface="PingFang SC"/>
              </a:rPr>
              <a:t>Dashboard：实时指标、资源趋势、Top Wait、Top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353312"/>
            <a:ext cx="3977639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1499616"/>
            <a:ext cx="357530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统一健康视图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53528" y="1856232"/>
            <a:ext cx="384048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2039112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563EB"/>
                </a:solidFill>
                <a:latin typeface="PingFang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2020824"/>
            <a:ext cx="331927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会话、活动请求、阻塞、等待、死锁、采集延迟一屏呈现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816352"/>
            <a:ext cx="3977639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2962656"/>
            <a:ext cx="357530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资源趋势判断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53528" y="3319272"/>
            <a:ext cx="384048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3502152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A5E9"/>
                </a:solidFill>
                <a:latin typeface="PingFang S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3483864"/>
            <a:ext cx="331927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CPU、内存、网络速率结合时间窗口查看持续性异常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4279392"/>
            <a:ext cx="3977639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8" y="4425696"/>
            <a:ext cx="357530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快速下钻入口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53528" y="4782312"/>
            <a:ext cx="384048" cy="3657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8392" y="4965192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A34A"/>
                </a:solidFill>
                <a:latin typeface="PingFang S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4946904"/>
            <a:ext cx="331927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从 Top Wait、Top CPU SQL、Top IO SQL 进入细节排查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价值二：会话监控把“谁在影响系统”讲清楚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749039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72184"/>
            <a:ext cx="334670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定位来源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1828800"/>
            <a:ext cx="384048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563EB"/>
                </a:solidFill>
                <a:latin typeface="PingFang S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1993392"/>
            <a:ext cx="309067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登录名、主机、程序、数据库、状态关联展示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88920"/>
            <a:ext cx="3749039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935224"/>
            <a:ext cx="334670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缩小范围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3291839"/>
            <a:ext cx="384048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A5E9"/>
                </a:solidFill>
                <a:latin typeface="PingFang S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3456432"/>
            <a:ext cx="309067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仅阻塞、仅打开事务、状态筛选和资源排序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51960"/>
            <a:ext cx="3749039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398264"/>
            <a:ext cx="334670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连接处置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" y="4754880"/>
            <a:ext cx="384048" cy="3657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A34A"/>
                </a:solidFill>
                <a:latin typeface="PingFang S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919472"/>
            <a:ext cx="309067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详情抽屉和终止入口，支撑从分析到处置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325880"/>
            <a:ext cx="6629400" cy="4434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3-s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284" y="1399032"/>
            <a:ext cx="5183151" cy="39593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55464" y="5431536"/>
            <a:ext cx="6336792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8B"/>
                </a:solidFill>
                <a:latin typeface="PingFang SC"/>
              </a:rPr>
              <a:t>Session 列表：资源、等待、事务和 SQL 预览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价值三：SQL 分析让资源消耗可归因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6126480" cy="4434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sq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32" y="1399032"/>
            <a:ext cx="5183151" cy="395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" y="5431536"/>
            <a:ext cx="5833872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8B"/>
                </a:solidFill>
                <a:latin typeface="PingFang SC"/>
              </a:rPr>
              <a:t>SQL 分析：按 CPU、耗时、读写和等待排序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086600" y="1417320"/>
          <a:ext cx="43434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017520"/>
              </a:tblGrid>
              <a:tr h="43525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分析维度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定位问题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CPU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识别计算密集型 SQL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逻辑读/物理读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识别扫描、大查询和 IO 压力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写入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识别批量写入或事务压力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5256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等待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识别锁、IO、资源等待类型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086600" y="3950208"/>
            <a:ext cx="43434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4096512"/>
            <a:ext cx="394106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协同价值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4453128"/>
            <a:ext cx="384048" cy="3657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1" y="4636008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A34A"/>
                </a:solidFill>
                <a:latin typeface="PingFang S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4617720"/>
            <a:ext cx="368503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DBA 可判断数据库侧影响，研发可定位具体 SQL 与业务来源，双方基于同一条 SQL 文本沟通。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价值四：阻塞链分析把复杂关系可视化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6309360" cy="4434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blo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472" y="1399032"/>
            <a:ext cx="5183151" cy="395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" y="5431536"/>
            <a:ext cx="6016752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8B"/>
                </a:solidFill>
                <a:latin typeface="PingFang SC"/>
              </a:rPr>
              <a:t>阻塞分析：根阻塞、层级、等待类型和锁资源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81328"/>
            <a:ext cx="14173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1627632"/>
            <a:ext cx="1271016" cy="21031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发现阻塞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1554480"/>
            <a:ext cx="2057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PingFang SC"/>
              </a:rPr>
              <a:t>仪表盘指标异常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6448" y="1929384"/>
            <a:ext cx="0" cy="338328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52360" y="2286000"/>
            <a:ext cx="14173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2432304"/>
            <a:ext cx="1271016" cy="21031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识别根阻塞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359152"/>
            <a:ext cx="2057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PingFang SC"/>
              </a:rPr>
              <a:t>阻塞链自动汇总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56448" y="2734056"/>
            <a:ext cx="0" cy="338328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52360" y="3090672"/>
            <a:ext cx="14173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3236976"/>
            <a:ext cx="1271016" cy="21031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定位会话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3163824"/>
            <a:ext cx="2057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PingFang SC"/>
              </a:rPr>
              <a:t>查看事务与来源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56448" y="3538728"/>
            <a:ext cx="0" cy="338328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52360" y="3895344"/>
            <a:ext cx="14173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041648"/>
            <a:ext cx="1271016" cy="21031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分析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3968496"/>
            <a:ext cx="2057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PingFang SC"/>
              </a:rPr>
              <a:t>确认语句和风险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56448" y="4343400"/>
            <a:ext cx="0" cy="338328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52360" y="4700016"/>
            <a:ext cx="14173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25512" y="4846320"/>
            <a:ext cx="1271016" cy="21031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PingFang SC"/>
              </a:rPr>
              <a:t>安全处置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4773168"/>
            <a:ext cx="2057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PingFang SC"/>
              </a:rPr>
              <a:t>Kill 与审计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5715000"/>
            <a:ext cx="36576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72A"/>
                </a:solidFill>
                <a:latin typeface="PingFang SC"/>
              </a:rPr>
              <a:t>关键价值：将人工推导阻塞关系变为标准化链路视图。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价值五：Kill 处置从“高风险动作”变为可控流程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31089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26517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用户点击终止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66544"/>
            <a:ext cx="26517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前端入口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9624" y="2029968"/>
            <a:ext cx="393192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16552" y="1463040"/>
            <a:ext cx="31089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64208"/>
            <a:ext cx="26517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二次确认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66544"/>
            <a:ext cx="26517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输入原因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52944" y="2029968"/>
            <a:ext cx="393192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19871" y="1463040"/>
            <a:ext cx="31089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64208"/>
            <a:ext cx="26517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权限与规则校验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66544"/>
            <a:ext cx="26517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最小 Session、安全规则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267712" y="2633472"/>
            <a:ext cx="7406639" cy="54864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3232" y="3337560"/>
            <a:ext cx="31089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38728"/>
            <a:ext cx="26517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执行 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41063"/>
            <a:ext cx="26517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使用处置连接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9624" y="3904487"/>
            <a:ext cx="393192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16552" y="3337560"/>
            <a:ext cx="31089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538728"/>
            <a:ext cx="26517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写入审计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941063"/>
            <a:ext cx="26517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结果与原因留痕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52944" y="3904487"/>
            <a:ext cx="393192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19871" y="3337560"/>
            <a:ext cx="31089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538728"/>
            <a:ext cx="26517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刷新现场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41063"/>
            <a:ext cx="26517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验证影响解除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69280"/>
            <a:ext cx="104698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PingFang SC"/>
              </a:rPr>
              <a:t>价值重点：降低误操作概率，明确处置责任，为后续复盘提供证据。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价值六：历史回放把“错过的现场”重新取回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0" y="1325880"/>
            <a:ext cx="5806440" cy="4434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r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044" y="1399032"/>
            <a:ext cx="5183151" cy="395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32704" y="5431536"/>
            <a:ext cx="5513831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8B"/>
                </a:solidFill>
                <a:latin typeface="PingFang SC"/>
              </a:rPr>
              <a:t>回放分析：按时间命中历史快照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325880"/>
            <a:ext cx="4434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72184"/>
            <a:ext cx="403250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复盘问题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828800"/>
            <a:ext cx="384048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011680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563EB"/>
                </a:solidFill>
                <a:latin typeface="PingFang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993392"/>
            <a:ext cx="377647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按实例和时间点查询历史 Session、SQL、Blocking、Wait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743200"/>
            <a:ext cx="4434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89504"/>
            <a:ext cx="403250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保留证据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46120"/>
            <a:ext cx="384048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429000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A5E9"/>
                </a:solidFill>
                <a:latin typeface="PingFang S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410712"/>
            <a:ext cx="377647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问题发生后仍可查看当时的指标、阻塞链和 SQL 现场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160520"/>
            <a:ext cx="4434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06824"/>
            <a:ext cx="403250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沉淀知识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663440"/>
            <a:ext cx="384048" cy="3657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846320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A34A"/>
                </a:solidFill>
                <a:latin typeface="PingFang S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828032"/>
            <a:ext cx="377647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将故障现场转化为案例、规则和优化依据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15000"/>
            <a:ext cx="42062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4748B"/>
                </a:solidFill>
                <a:latin typeface="PingFang SC"/>
              </a:rPr>
              <a:t>快照匹配规则：选择时间 → 查找不晚于目标时间的最近快照 → 渲染历史现场。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价值七：多实例管理支撑规模化接入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6400800" cy="4434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-in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192" y="1399032"/>
            <a:ext cx="5183151" cy="395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" y="5431536"/>
            <a:ext cx="6108192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8B"/>
                </a:solidFill>
                <a:latin typeface="PingFang SC"/>
              </a:rPr>
              <a:t>实例设置：连接、状态、策略、责任人统一维护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0" y="1417320"/>
          <a:ext cx="39776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743200"/>
              </a:tblGrid>
              <a:tr h="4953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管理对象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价值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实例连接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统一维护主机、端口、数据库和认证信息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采集策略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配置采集间隔和历史保留周期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连接测试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新增、编辑、已有实例均可测试状态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责任人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业务负责人和 DBA 清晰归属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状态视图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online、offline、collect_error 等状态直观展示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0" y="4645152"/>
            <a:ext cx="397763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4791456"/>
            <a:ext cx="3575303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PingFang SC"/>
              </a:rPr>
              <a:t>规模化收益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5148072"/>
            <a:ext cx="384048" cy="3657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5330952"/>
            <a:ext cx="164592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6A34A"/>
                </a:solidFill>
                <a:latin typeface="PingFang S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312664"/>
            <a:ext cx="3319272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F2937"/>
                </a:solidFill>
                <a:latin typeface="PingFang SC"/>
              </a:rPr>
              <a:t>单实例异常不影响其他实例，统一平台降低多实例管理成本。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综合收益：效率、安全、协同、沉淀四类价值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63624"/>
            <a:ext cx="12344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72A"/>
                </a:solidFill>
                <a:latin typeface="PingFang SC"/>
              </a:rPr>
              <a:t>定位效率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508760"/>
            <a:ext cx="53035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0280" y="1508760"/>
            <a:ext cx="4561027" cy="31089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27048"/>
            <a:ext cx="7315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86%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12344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72A"/>
                </a:solidFill>
                <a:latin typeface="PingFang SC"/>
              </a:rPr>
              <a:t>处置安全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2258568"/>
            <a:ext cx="53035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80" y="2258568"/>
            <a:ext cx="4136745" cy="310896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276856"/>
            <a:ext cx="7315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A34A"/>
                </a:solidFill>
                <a:latin typeface="PingFang SC"/>
              </a:rPr>
              <a:t>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12344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72A"/>
                </a:solidFill>
                <a:latin typeface="PingFang SC"/>
              </a:rPr>
              <a:t>协同效率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3008376"/>
            <a:ext cx="53035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40280" y="3008376"/>
            <a:ext cx="3818534" cy="310896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3026664"/>
            <a:ext cx="7315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EA5E9"/>
                </a:solidFill>
                <a:latin typeface="PingFang SC"/>
              </a:rPr>
              <a:t>72%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13047"/>
            <a:ext cx="12344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72A"/>
                </a:solidFill>
                <a:latin typeface="PingFang SC"/>
              </a:rPr>
              <a:t>复盘能力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3758183"/>
            <a:ext cx="5303520" cy="310896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40280" y="3758183"/>
            <a:ext cx="4348886" cy="310896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3776471"/>
            <a:ext cx="7315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97706"/>
                </a:solidFill>
                <a:latin typeface="PingFang SC"/>
              </a:rPr>
              <a:t>82%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22960" y="4828032"/>
          <a:ext cx="104698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281160"/>
              </a:tblGrid>
              <a:tr h="26289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收益类型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PingFang SC"/>
                        </a:rPr>
                        <a:t>具体体现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效率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减少人工登录、手写查询和跨页面拼接信息的时间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安全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Kill 动作有确认、有规则、有审计</a:t>
                      </a:r>
                    </a:p>
                  </a:txBody>
                  <a:tcPr marL="73152" marR="73152">
                    <a:solidFill>
                      <a:srgbClr val="F8FAFC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协同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PingFang SC"/>
                        </a:rPr>
                        <a:t>DBA、研发、SRE 基于统一现场数据沟通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869680" y="1417320"/>
            <a:ext cx="2423160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4748B"/>
                </a:solidFill>
                <a:latin typeface="PingFang SC"/>
              </a:rPr>
              <a:t>建议后续结合真实故障记录，补充 MTTR、阻塞定位耗时、Kill 审计覆盖率等量化指标。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412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563EB"/>
                </a:solidFill>
                <a:latin typeface="PingFang SC"/>
              </a:rPr>
              <a:t>SQL Server 实时监控平台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5097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172A"/>
                </a:solidFill>
                <a:latin typeface="PingFang SC"/>
              </a:rPr>
              <a:t>后续演进：从实时监控走向智能诊断与治理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PingFang SC"/>
              </a:rPr>
              <a:t>内部数据库排障与实时监控能力建设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0632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25603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6A34A"/>
                </a:solidFill>
                <a:latin typeface="PingFang SC"/>
              </a:rPr>
              <a:t>P0 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2514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实时监控、会话、SQL、阻塞、Kill、回放、实例管理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30752"/>
            <a:ext cx="25146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当前闭环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95344" y="2971800"/>
            <a:ext cx="384048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26280" y="1828800"/>
            <a:ext cx="30632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084831"/>
            <a:ext cx="25603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563EB"/>
                </a:solidFill>
                <a:latin typeface="PingFang SC"/>
              </a:rPr>
              <a:t>P1 深化诊断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51760"/>
            <a:ext cx="2514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死锁捕获、TempDB 分析、查询计划、根因提示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30752"/>
            <a:ext cx="25146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提升诊断深度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98664" y="2971800"/>
            <a:ext cx="384048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0" y="1828800"/>
            <a:ext cx="30632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084831"/>
            <a:ext cx="25603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D97706"/>
                </a:solidFill>
                <a:latin typeface="PingFang SC"/>
              </a:rPr>
              <a:t>P2 联动治理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651760"/>
            <a:ext cx="2514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告警联动、权限分级、趋势报告、容量风险分析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30752"/>
            <a:ext cx="25146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PingFang SC"/>
              </a:rPr>
              <a:t>形成治理能力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7492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172A"/>
                </a:solidFill>
                <a:latin typeface="PingFang SC"/>
              </a:rPr>
              <a:t>总结：该项目将 DBA 的临场经验沉淀为平台化能力，核心价值在于更快定位、更安全处置、更可靠复盘。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PingFang SC"/>
              </a:rPr>
              <a:t>建议作为内部数据库稳定性工程的基础能力持续建设。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Server 实时监控平台项目价值汇报</dc:title>
  <dc:subject>SQLMon 项目价值、架构与演进路线</dc:subject>
  <dc:creator>Codex</dc:creator>
  <cp:keywords/>
  <dc:description>Generated from project documentation and screenshots.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